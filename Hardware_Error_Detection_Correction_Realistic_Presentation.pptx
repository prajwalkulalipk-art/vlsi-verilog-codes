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55279" y="960120"/>
            <a:ext cx="3017520" cy="4480560"/>
          </a:xfrm>
          <a:prstGeom prst="round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03920" y="1417320"/>
            <a:ext cx="2103120" cy="3474720"/>
          </a:xfrm>
          <a:prstGeom prst="round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0" y="1965960"/>
            <a:ext cx="1097280" cy="2286000"/>
          </a:xfrm>
          <a:prstGeom prst="round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960120"/>
            <a:ext cx="4760470" cy="2369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defRPr sz="3200" b="1">
                <a:solidFill>
                  <a:srgbClr val="F8FBFF"/>
                </a:solidFill>
              </a:defRPr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Mini Project on</a:t>
            </a:r>
          </a:p>
          <a:p>
            <a:pPr>
              <a:defRPr sz="3200" b="1">
                <a:solidFill>
                  <a:srgbClr val="F8FBFF"/>
                </a:solidFill>
              </a:defRPr>
            </a:pPr>
            <a:r>
              <a:rPr sz="2800" dirty="0"/>
              <a:t>Design of a Hardware</a:t>
            </a:r>
            <a:br>
              <a:rPr sz="2800" dirty="0"/>
            </a:br>
            <a:r>
              <a:rPr sz="2800" dirty="0"/>
              <a:t>Error Detection and Correction</a:t>
            </a:r>
            <a:br>
              <a:rPr sz="2800" dirty="0"/>
            </a:br>
            <a:r>
              <a:rPr sz="2800" dirty="0"/>
              <a:t>Engine for Reliable Computing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6217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1D7E1"/>
                </a:solidFill>
              </a:defRPr>
            </a:pPr>
            <a:r>
              <a:t>PROJECT PRESENTATION</a:t>
            </a:r>
          </a:p>
          <a:p>
            <a:pPr>
              <a:defRPr sz="1200" b="0">
                <a:solidFill>
                  <a:srgbClr val="BECDDC"/>
                </a:solidFill>
              </a:defRPr>
            </a:pPr>
            <a:r>
              <a:t>Presented by</a:t>
            </a:r>
          </a:p>
          <a:p>
            <a:pPr>
              <a:defRPr sz="1900" b="1">
                <a:solidFill>
                  <a:srgbClr val="F8FBFF"/>
                </a:solidFill>
              </a:defRPr>
            </a:pPr>
            <a:r>
              <a:t>Prajwal I K</a:t>
            </a:r>
          </a:p>
          <a:p>
            <a:pPr>
              <a:defRPr sz="1300" b="0">
                <a:solidFill>
                  <a:srgbClr val="BECDDC"/>
                </a:solidFill>
              </a:defRPr>
            </a:pPr>
            <a:r>
              <a:t>USN: 1VJ23EC039</a:t>
            </a:r>
          </a:p>
          <a:p>
            <a:pPr>
              <a:defRPr sz="1900" b="1">
                <a:solidFill>
                  <a:srgbClr val="F8FBFF"/>
                </a:solidFill>
              </a:defRPr>
            </a:pPr>
            <a:r>
              <a:t>Srushti D S</a:t>
            </a:r>
          </a:p>
          <a:p>
            <a:pPr>
              <a:defRPr sz="1300" b="0">
                <a:solidFill>
                  <a:srgbClr val="BECDDC"/>
                </a:solidFill>
              </a:defRPr>
            </a:pPr>
            <a:r>
              <a:t>USN: 1VJ23EC051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0" y="1828800"/>
            <a:ext cx="219456" cy="219456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0" y="2560320"/>
            <a:ext cx="219456" cy="219456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0" y="3840480"/>
            <a:ext cx="219456" cy="219456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0" y="4297680"/>
            <a:ext cx="219456" cy="219456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84080" y="1234440"/>
            <a:ext cx="219456" cy="219456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625E13-A8A3-E4CC-EE1D-084E26AF2424}"/>
              </a:ext>
            </a:extLst>
          </p:cNvPr>
          <p:cNvSpPr txBox="1"/>
          <p:nvPr/>
        </p:nvSpPr>
        <p:spPr>
          <a:xfrm>
            <a:off x="822960" y="393192"/>
            <a:ext cx="90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VIJAYA VITTALA INSTITUTE OF TECHNOLOGY</a:t>
            </a:r>
            <a:endParaRPr lang="en-IN" sz="32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033271"/>
            <a:ext cx="28280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7"/>
                </a:solidFill>
              </a:defRPr>
            </a:pPr>
            <a:r>
              <a:rPr sz="1600" b="1" dirty="0"/>
              <a:t>Why reliable hardware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554480"/>
            <a:ext cx="3337560" cy="19659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1554480"/>
            <a:ext cx="73152" cy="196596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171907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Reliable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176271"/>
            <a:ext cx="292607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Digita</a:t>
            </a:r>
            <a:r>
              <a:rPr lang="en-US" dirty="0"/>
              <a:t>l</a:t>
            </a:r>
            <a:r>
              <a:rPr dirty="0"/>
              <a:t> systems must continue to produce trustworthy results even when unwanted faults affect stored or processed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554480"/>
            <a:ext cx="3337560" cy="19659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1554480"/>
            <a:ext cx="73152" cy="196596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171907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Error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1" y="2176272"/>
            <a:ext cx="270200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The hard</a:t>
            </a:r>
            <a:r>
              <a:rPr lang="en-US" dirty="0"/>
              <a:t>w</a:t>
            </a:r>
            <a:r>
              <a:rPr dirty="0"/>
              <a:t>are checks the data and generates an indication when an error condition is identified.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554480"/>
            <a:ext cx="3337560" cy="196596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1554480"/>
            <a:ext cx="73152" cy="196596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719072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Error Correction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76271"/>
            <a:ext cx="28651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When supported by the architecture, the corrupte</a:t>
            </a:r>
            <a:r>
              <a:rPr lang="en-US" dirty="0"/>
              <a:t>d</a:t>
            </a:r>
            <a:r>
              <a:rPr dirty="0"/>
              <a:t> information is reconstructed and the corrected result is delivered.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70352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Our work focuses on implementing this process as an RTL hardware engine and evaluating its FPGA-oriented characteristics.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Digital hardware may experience transient faults, bit flips, noise and other sources of incorrect data.</a:t>
            </a:r>
          </a:p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An error that passes through a processing system can produce an incorrect final result.</a:t>
            </a:r>
          </a:p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A practical solution should detect the fault quickly and, where possible, correct the affected information.</a:t>
            </a:r>
          </a:p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The design must also remain suitable for hardware implementation with reasonable resource usage, timing and power.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50876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1508760"/>
            <a:ext cx="73152" cy="178308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167335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30552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t>Develop an RTL hardware engine for error detection and correction.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50876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79" y="1508760"/>
            <a:ext cx="73152" cy="17830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167335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130552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t>Use a testbench to exercise normal and error conditions.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5760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657600"/>
            <a:ext cx="73152" cy="178308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82219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79391"/>
            <a:ext cx="398894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Check FPGA utilization, timing and power after synthesis/implementati</a:t>
            </a:r>
            <a:r>
              <a:rPr lang="en-US" dirty="0"/>
              <a:t>o</a:t>
            </a:r>
            <a:r>
              <a:rPr dirty="0"/>
              <a:t>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365760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79" y="3657600"/>
            <a:ext cx="73152" cy="17830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79" y="382219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Demonstrate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5097" y="4306824"/>
            <a:ext cx="41736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Show that the engine responds correctly to the tested error conditions.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Proposed System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48840"/>
            <a:ext cx="1965960" cy="1143000"/>
          </a:xfrm>
          <a:prstGeom prst="roundRect">
            <a:avLst/>
          </a:prstGeom>
          <a:solidFill>
            <a:srgbClr val="EEF5FA"/>
          </a:solidFill>
          <a:ln>
            <a:solidFill>
              <a:srgbClr val="1F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182B"/>
                </a:solidFill>
              </a:defRPr>
            </a:pPr>
            <a:r>
              <a:t>Input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743200" y="2496312"/>
            <a:ext cx="502920" cy="365760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29000" y="2148840"/>
            <a:ext cx="1965960" cy="1143000"/>
          </a:xfrm>
          <a:prstGeom prst="roundRect">
            <a:avLst/>
          </a:prstGeom>
          <a:solidFill>
            <a:srgbClr val="EE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182B"/>
                </a:solidFill>
              </a:defRPr>
            </a:pPr>
            <a:r>
              <a:t>Detection Logic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2496312"/>
            <a:ext cx="502920" cy="365760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26480" y="2148840"/>
            <a:ext cx="1965960" cy="1143000"/>
          </a:xfrm>
          <a:prstGeom prst="roundRect">
            <a:avLst/>
          </a:prstGeom>
          <a:solidFill>
            <a:srgbClr val="EEF5FA"/>
          </a:solidFill>
          <a:ln>
            <a:solidFill>
              <a:srgbClr val="1F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182B"/>
                </a:solidFill>
              </a:defRPr>
            </a:pPr>
            <a:r>
              <a:t>Correction Logic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38160" y="2496312"/>
            <a:ext cx="502920" cy="365760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23960" y="2148840"/>
            <a:ext cx="1965960" cy="1143000"/>
          </a:xfrm>
          <a:prstGeom prst="roundRect">
            <a:avLst/>
          </a:prstGeom>
          <a:solidFill>
            <a:srgbClr val="EE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182B"/>
                </a:solidFill>
              </a:defRPr>
            </a:pPr>
            <a:r>
              <a:t>Corrected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The input is checked for consistency. If an error is detected, the correction path is enabled; otherwise the valid data follows the normal path.</a:t>
            </a:r>
          </a:p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The corrected output is then verified through simulation and FPGA design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9788" y="541530"/>
            <a:ext cx="39619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7"/>
                </a:solidFill>
              </a:defRPr>
            </a:pPr>
            <a:r>
              <a:rPr sz="1600" b="1" dirty="0"/>
              <a:t>Implementation flow followed in the project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1353312"/>
            <a:ext cx="457200" cy="457200"/>
          </a:xfrm>
          <a:prstGeom prst="ellipse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335024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82B"/>
                </a:solidFill>
              </a:defRPr>
            </a:pPr>
            <a:r>
              <a:t>RTL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3441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387"/>
                </a:solidFill>
              </a:defRPr>
            </a:pPr>
            <a:r>
              <a:t>Defined the hardware architecture and described the detection/correction logic in Verilog/SystemVerilog.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259256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82B"/>
                </a:solidFill>
              </a:defRPr>
            </a:pPr>
            <a:r>
              <a:t>Testbench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585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387"/>
                </a:solidFill>
              </a:defRPr>
            </a:pPr>
            <a:r>
              <a:t>Applied normal input patterns and introduced controlled error conditions.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182112"/>
            <a:ext cx="457200" cy="457200"/>
          </a:xfrm>
          <a:prstGeom prst="ellipse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163824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82B"/>
                </a:solidFill>
              </a:defRPr>
            </a:pPr>
            <a:r>
              <a:t>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1729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387"/>
                </a:solidFill>
              </a:defRPr>
            </a:pPr>
            <a:r>
              <a:t>Checked the error flag and corrected output using waveform analysis.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78224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82B"/>
                </a:solidFill>
              </a:defRPr>
            </a:pPr>
            <a:r>
              <a:t>Synthesis &amp; Implementation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0873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387"/>
                </a:solidFill>
              </a:defRPr>
            </a:pPr>
            <a:r>
              <a:t>Mapped the RTL to FPGA resources and performed placement/routing with constraints.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010912"/>
            <a:ext cx="457200" cy="457200"/>
          </a:xfrm>
          <a:prstGeom prst="ellipse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B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992624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182B"/>
                </a:solidFill>
              </a:defRPr>
            </a:pPr>
            <a:r>
              <a:t>Design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001768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387"/>
                </a:solidFill>
              </a:defRPr>
            </a:pPr>
            <a:r>
              <a:t>Reviewed utilization, timing and power reports to evaluate the implementation.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Error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1124" y="530239"/>
            <a:ext cx="34504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7"/>
                </a:solidFill>
              </a:defRPr>
            </a:pPr>
            <a:r>
              <a:rPr sz="1600" b="1" dirty="0"/>
              <a:t>Identifying an incorrect data condition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554480"/>
            <a:ext cx="320040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1554480"/>
            <a:ext cx="73152" cy="237744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17190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176272"/>
            <a:ext cx="26426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The incoming data is presented to the detection stage.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554480"/>
            <a:ext cx="320040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0560" y="1554480"/>
            <a:ext cx="73152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17190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Checking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76272"/>
            <a:ext cx="257221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The selected checking mechanism determines whether the data is consistent.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54480"/>
            <a:ext cx="320040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554480"/>
            <a:ext cx="73152" cy="237744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17190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Error 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176272"/>
            <a:ext cx="26312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An error indication is generated when the check fails.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This flag controls the next stage of the architecture and provides a clear indication that the data needs correction.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Error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033271"/>
            <a:ext cx="26913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7"/>
                </a:solidFill>
              </a:defRPr>
            </a:pPr>
            <a:r>
              <a:rPr sz="1600" b="1" dirty="0"/>
              <a:t>Recovering the intended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When the error flag is asserted, the correction logic uses the available redundant or check information.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The correction stage reconstructs the intended value for the supported fault condition.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The corrected value is forwarded to the output, while valid data can bypass unnecessary correction.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This creates a hardware path from fault detection to recovery rather than only reporting an error.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Simulation &amp;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033271"/>
            <a:ext cx="41608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387"/>
                </a:solidFill>
              </a:defRPr>
            </a:pPr>
            <a:r>
              <a:rPr sz="1600" b="1" dirty="0"/>
              <a:t>Functional validation before hardware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508760"/>
            <a:ext cx="3200400" cy="20116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1508760"/>
            <a:ext cx="73152" cy="201168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1673351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Testbench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130552"/>
            <a:ext cx="2697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Stimulus is applied to verify both normal and error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508760"/>
            <a:ext cx="3200400" cy="20116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0560" y="1508760"/>
            <a:ext cx="73152" cy="20116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1673351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Waveform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30552"/>
            <a:ext cx="264261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Input, error indication and corrected output are observed with respect to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508760"/>
            <a:ext cx="3200400" cy="20116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508760"/>
            <a:ext cx="73152" cy="201168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673351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130552"/>
            <a:ext cx="27005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The observed sequence is compared with the expected </a:t>
            </a:r>
            <a:r>
              <a:rPr dirty="0" err="1"/>
              <a:t>behaviour</a:t>
            </a:r>
            <a:r>
              <a:rPr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23360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clk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411480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57400" y="4233672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60320" y="411480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63240" y="4233672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66160" y="411480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069080" y="4233672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0" y="411480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74920" y="4233672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577840" y="411480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40740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461772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057400" y="4498848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60320" y="461772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63240" y="4498848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566160" y="461772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069080" y="4498848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0" y="461772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74920" y="4498848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77840" y="4617720"/>
            <a:ext cx="411480" cy="27432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79145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error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54480" y="488289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057400" y="5001768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560320" y="488289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63240" y="5001768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566160" y="488289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069080" y="5001768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0" y="488289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74920" y="5001768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577840" y="488289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" y="5175504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387"/>
                </a:solidFill>
              </a:defRPr>
            </a:pPr>
            <a:r>
              <a:t>output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54480" y="538581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057400" y="5266944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560320" y="538581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063240" y="5266944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566160" y="538581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069080" y="5266944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572000" y="538581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74920" y="5266944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577840" y="5385816"/>
            <a:ext cx="411480" cy="27432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FPGA Implementation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40280"/>
            <a:ext cx="1572768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1F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182B"/>
                </a:solidFill>
              </a:defRPr>
            </a:pPr>
            <a:r>
              <a:t>RTL Source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12264" y="2532888"/>
            <a:ext cx="256032" cy="256032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41448" y="2240280"/>
            <a:ext cx="1572768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182B"/>
                </a:solidFill>
              </a:defRPr>
            </a:pPr>
            <a:r>
              <a:t>Synthesis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50791" y="2532888"/>
            <a:ext cx="256032" cy="256032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79976" y="2240280"/>
            <a:ext cx="1572768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1F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182B"/>
                </a:solidFill>
              </a:defRPr>
            </a:pPr>
            <a:r>
              <a:t>Constraints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9320" y="2532888"/>
            <a:ext cx="256032" cy="256032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18504" y="2240280"/>
            <a:ext cx="1572768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182B"/>
                </a:solidFill>
              </a:defRPr>
            </a:pPr>
            <a:r>
              <a:t>Implementation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27848" y="2532888"/>
            <a:ext cx="256032" cy="256032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57032" y="2240280"/>
            <a:ext cx="1572768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1F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182B"/>
                </a:solidFill>
              </a:defRPr>
            </a:pPr>
            <a:r>
              <a:t>Timing / Power / Utilization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866376" y="2532888"/>
            <a:ext cx="256032" cy="256032"/>
          </a:xfrm>
          <a:prstGeom prst="rightArrow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195560" y="2240280"/>
            <a:ext cx="1572768" cy="960120"/>
          </a:xfrm>
          <a:prstGeom prst="roundRect">
            <a:avLst/>
          </a:prstGeom>
          <a:solidFill>
            <a:srgbClr val="EEF5FA"/>
          </a:solidFill>
          <a:ln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C182B"/>
                </a:solidFill>
              </a:defRPr>
            </a:pPr>
            <a:r>
              <a:t>Bitstream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After RTL verification, the design is synthesized into FPGA resources. Constraints guide clock and I/O requirements; implementation performs placement and routing. The resulting reports are then used to evaluate the design.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Utilization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371600"/>
            <a:ext cx="10835640" cy="4526280"/>
          </a:xfrm>
          <a:prstGeom prst="roundRect">
            <a:avLst/>
          </a:prstGeom>
          <a:solidFill>
            <a:srgbClr val="FAFCFE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371600"/>
            <a:ext cx="10835640" cy="502920"/>
          </a:xfrm>
          <a:prstGeom prst="rect">
            <a:avLst/>
          </a:prstGeom>
          <a:solidFill>
            <a:srgbClr val="E2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182B"/>
                </a:solidFill>
              </a:defRPr>
            </a:pPr>
            <a:r>
              <a:t>RESOURCE UTILIZATION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896112" y="2240280"/>
            <a:ext cx="73152" cy="237744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Report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2240280"/>
            <a:ext cx="73152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Key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62072"/>
            <a:ext cx="267004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lang="en-IN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LUT utilization is only 0.31%</a:t>
            </a: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using 65 LUTs out of 20,800 available.</a:t>
            </a:r>
            <a:b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I/O utilization is 66.98%</a:t>
            </a: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with 71 of 106 I/O resources used.</a:t>
            </a:r>
            <a:b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design uses very little internal FPGA logic.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882127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82127" y="2240280"/>
            <a:ext cx="73152" cy="237744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0727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Design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7" y="2862072"/>
            <a:ext cx="27432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/>
              <a:t>The low LUT usage indicates that the proposed error detection and correction engine has a </a:t>
            </a:r>
            <a:r>
              <a:rPr lang="en-IN" sz="1300" b="1" dirty="0"/>
              <a:t>compact hardware implementation</a:t>
            </a:r>
            <a:r>
              <a:rPr lang="en-IN" sz="1300" dirty="0"/>
              <a:t>.</a:t>
            </a:r>
            <a:br>
              <a:rPr lang="en-IN" sz="1300" dirty="0"/>
            </a:br>
            <a:r>
              <a:rPr lang="en-IN" sz="1300" dirty="0"/>
              <a:t>The relatively high I/O usage is mainly due to the number of input and output signals connected to the design.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88CBC70-B43A-9245-D0D5-555260378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98" y="2201385"/>
            <a:ext cx="3465108" cy="24981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Timing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371600"/>
            <a:ext cx="10835640" cy="4526280"/>
          </a:xfrm>
          <a:prstGeom prst="roundRect">
            <a:avLst/>
          </a:prstGeom>
          <a:solidFill>
            <a:srgbClr val="FAFCFE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371600"/>
            <a:ext cx="10835640" cy="502920"/>
          </a:xfrm>
          <a:prstGeom prst="rect">
            <a:avLst/>
          </a:prstGeom>
          <a:solidFill>
            <a:srgbClr val="E2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182B"/>
                </a:solidFill>
              </a:defRPr>
            </a:pPr>
            <a:r>
              <a:t>TIMING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" y="2240280"/>
            <a:ext cx="73152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Report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2240280"/>
            <a:ext cx="73152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Key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62072"/>
            <a:ext cx="262865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Worst Negative Slack (WNS): 1.286 ns</a:t>
            </a:r>
            <a:b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Worst Hold Slack (WHS): 1.906 ns</a:t>
            </a:r>
            <a:b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Negative Slack (TNS): 0.000 ns</a:t>
            </a:r>
            <a:b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Hold Slack (THS): 0.000 ns</a:t>
            </a:r>
            <a:b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Failing Endpoints: 0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882127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82127" y="2240280"/>
            <a:ext cx="73152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0727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Design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7" y="2735611"/>
            <a:ext cx="263347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Since </a:t>
            </a:r>
            <a:r>
              <a:rPr lang="en-IN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TNS and THS are 0</a:t>
            </a: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there are </a:t>
            </a:r>
            <a:r>
              <a:rPr lang="en-IN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failing endpoints</a:t>
            </a: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the design satisfies the specified timing constraints.</a:t>
            </a:r>
            <a:b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positive WNS and WHS indicate that the implemented design has </a:t>
            </a:r>
            <a:r>
              <a:rPr lang="en-IN" sz="13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timing margin</a:t>
            </a:r>
            <a:r>
              <a:rPr lang="en-IN" sz="1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can operate reliably under the applied constraints.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08EC0B0-A125-2634-FB6D-2C8098A4F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70" y="2240279"/>
            <a:ext cx="3552180" cy="25054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Power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371600"/>
            <a:ext cx="10835640" cy="4526280"/>
          </a:xfrm>
          <a:prstGeom prst="roundRect">
            <a:avLst/>
          </a:prstGeom>
          <a:solidFill>
            <a:srgbClr val="FAFCFE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371600"/>
            <a:ext cx="10835640" cy="502920"/>
          </a:xfrm>
          <a:prstGeom prst="rect">
            <a:avLst/>
          </a:prstGeom>
          <a:solidFill>
            <a:srgbClr val="E2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182B"/>
                </a:solidFill>
              </a:defRPr>
            </a:pPr>
            <a:r>
              <a:t>POWER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" y="2240280"/>
            <a:ext cx="73152" cy="237744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Report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2240280"/>
            <a:ext cx="73152" cy="237744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4048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Key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862072"/>
            <a:ext cx="267004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Total On-Chip Power: 0.12 W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Dynamic Power: 0.048 W (40%)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Device Static Power: 0.072 W (60%)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I/O Power: 0.047 W (97% of dynamic power)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Logic Power: &lt;0.001 W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Signal Power: 0.001 W</a:t>
            </a:r>
            <a:b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Junction Temperature: 25.6°C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882127" y="2240280"/>
            <a:ext cx="3154680" cy="237744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82127" y="2240280"/>
            <a:ext cx="73152" cy="237744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0" y="218915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rPr dirty="0"/>
              <a:t>Design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7" y="2442994"/>
            <a:ext cx="267919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lang="en-I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estimated </a:t>
            </a:r>
            <a:r>
              <a:rPr lang="en-IN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0.12 W total on-chip power</a:t>
            </a:r>
            <a:r>
              <a:rPr lang="en-I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indicates low overall power consumption for the implemented design.</a:t>
            </a:r>
            <a:br>
              <a:rPr lang="en-I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 of the dynamic power comes from </a:t>
            </a:r>
            <a:r>
              <a:rPr lang="en-IN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I/O activity</a:t>
            </a:r>
            <a:r>
              <a:rPr lang="en-I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while the internal logic contributes very little power. This suggests that further optimization should mainly focus on </a:t>
            </a:r>
            <a:r>
              <a:rPr lang="en-IN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I/O activity and switching</a:t>
            </a:r>
            <a:r>
              <a:rPr lang="en-I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if lower power is required.</a:t>
            </a:r>
            <a:endParaRPr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DE0C21E-F5F2-3F8B-A6A3-41510EF2D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5" y="2203703"/>
            <a:ext cx="3355848" cy="2532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Results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Simulation verifies the intended detection and correction behaviour for the tested cases.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Utilization analysis shows how the RTL design maps onto FPGA resources.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Timing analysis is used to confirm clock feasibility and identify the critical path.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Power analysis provides the implementation-level estimate needed to discuss energy efficiency.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The final discussion should quote the actual values from the Vivado reports generated for this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Applications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41732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1417320"/>
            <a:ext cx="73152" cy="178308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158191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Reliable Digital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39112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rPr dirty="0"/>
              <a:t>Systems where incorrect data can affect the final computation.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41732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79" y="1417320"/>
            <a:ext cx="73152" cy="17830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158191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Communication 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039112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t>Data integrity checks in communication and processing paths.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6616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566160"/>
            <a:ext cx="73152" cy="1783080"/>
          </a:xfrm>
          <a:prstGeom prst="rect">
            <a:avLst/>
          </a:prstGeom>
          <a:solidFill>
            <a:srgbClr val="1F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73075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Embedded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87952"/>
            <a:ext cx="46634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t>Fault-aware control and monitoring applications.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3566160"/>
            <a:ext cx="5074920" cy="1783080"/>
          </a:xfrm>
          <a:prstGeom prst="roundRect">
            <a:avLst/>
          </a:prstGeom>
          <a:solidFill>
            <a:srgbClr val="EEF5FA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79" y="3566160"/>
            <a:ext cx="73152" cy="1783080"/>
          </a:xfrm>
          <a:prstGeom prst="rect">
            <a:avLst/>
          </a:prstGeom>
          <a:solidFill>
            <a:srgbClr val="23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79" y="3730752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182B"/>
                </a:solidFill>
              </a:defRPr>
            </a:pPr>
            <a:r>
              <a:t>FPGA Prototyping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4187952"/>
            <a:ext cx="4663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387"/>
                </a:solidFill>
              </a:defRPr>
            </a:pPr>
            <a:r>
              <a:t>Evaluation of reliability mechanisms before a dedicated-chip implementation.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The project demonstrates a hardware-based approach to improving computing reliability through error detection and correction.</a:t>
            </a:r>
          </a:p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The RTL design was verified through simulation and taken through the FPGA-oriented synthesis and implementation flow.</a:t>
            </a:r>
          </a:p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Utilization, timing and power analysis provide quantitative evidence for evaluating the implemented hardware.</a:t>
            </a:r>
          </a:p>
          <a:p>
            <a:pPr>
              <a:spcAft>
                <a:spcPts val="1400"/>
              </a:spcAft>
              <a:defRPr sz="1900">
                <a:solidFill>
                  <a:srgbClr val="28374B"/>
                </a:solidFill>
              </a:defRPr>
            </a:pPr>
            <a:r>
              <a:t>• The architecture can be extended to support more complex fault models and higher levels of reliability.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Extend the design to support multiple-bit and more complex fault conditions.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Optimize the architecture for lower area, timing and power.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Improve correction capability and throughput for larger data paths.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Evaluate the design across different FPGA families and operating frequencies.</a:t>
            </a:r>
          </a:p>
          <a:p>
            <a:pPr>
              <a:spcAft>
                <a:spcPts val="1400"/>
              </a:spcAft>
              <a:defRPr sz="1800">
                <a:solidFill>
                  <a:srgbClr val="28374B"/>
                </a:solidFill>
              </a:defRPr>
            </a:pPr>
            <a:r>
              <a:t>• Explore integration with processors, memories and safety-critical computing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C182B"/>
                </a:solidFill>
              </a:defRPr>
            </a:pPr>
            <a: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AMD/Xilinx Vivado Design Suite documentation for synthesis, implementation, timing and power analysis.</a:t>
            </a:r>
          </a:p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IEEE literature on hardware fault tolerance, error detection and error correction in digital systems.</a:t>
            </a:r>
          </a:p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Verilog/SystemVerilog references for RTL modelling and functional verification.</a:t>
            </a:r>
          </a:p>
          <a:p>
            <a:pPr>
              <a:spcAft>
                <a:spcPts val="1400"/>
              </a:spcAft>
              <a:defRPr sz="1700">
                <a:solidFill>
                  <a:srgbClr val="28374B"/>
                </a:solidFill>
              </a:defRPr>
            </a:pPr>
            <a:r>
              <a:t>• FPGA-based digital design and verification laboratory resources.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7"/>
                </a:solidFill>
              </a:defRPr>
            </a:pPr>
            <a:r>
              <a:t>Design of a Hardware Error Detection and Correction Engine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320040"/>
            <a:ext cx="109728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966960" y="685800"/>
            <a:ext cx="16459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89920" y="1051560"/>
            <a:ext cx="731520" cy="73152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126480"/>
            <a:ext cx="137160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5806440"/>
            <a:ext cx="640080" cy="54864"/>
          </a:xfrm>
          <a:prstGeom prst="rect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69880" y="39319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21240" y="75895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1247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" y="615391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5833872"/>
            <a:ext cx="164592" cy="164592"/>
          </a:xfrm>
          <a:prstGeom prst="ellipse">
            <a:avLst/>
          </a:prstGeom>
          <a:solidFill>
            <a:srgbClr val="36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2128" y="2466786"/>
            <a:ext cx="51226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BFF"/>
                </a:solidFill>
              </a:defRPr>
            </a:pPr>
            <a:r>
              <a:rPr sz="6000" dirty="0">
                <a:solidFill>
                  <a:schemeClr val="accent6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1414</Words>
  <Application>Microsoft Office PowerPoint</Application>
  <PresentationFormat>Widescreen</PresentationFormat>
  <Paragraphs>161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Algerian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prajwalkulalipk@gmail.com</cp:lastModifiedBy>
  <cp:revision>2</cp:revision>
  <dcterms:created xsi:type="dcterms:W3CDTF">2013-01-27T09:14:16Z</dcterms:created>
  <dcterms:modified xsi:type="dcterms:W3CDTF">2026-09-11T06:10:12Z</dcterms:modified>
  <cp:category/>
</cp:coreProperties>
</file>